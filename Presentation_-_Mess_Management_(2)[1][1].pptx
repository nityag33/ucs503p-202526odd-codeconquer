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rlito" panose="020B0604020202020204" charset="0"/>
      <p:regular r:id="rId10"/>
    </p:embeddedFont>
    <p:embeddedFont>
      <p:font typeface="Carlito Bold" panose="020B0604020202020204" charset="0"/>
      <p:regular r:id="rId11"/>
    </p:embeddedFont>
    <p:embeddedFont>
      <p:font typeface="Radley" panose="020B0604020202020204" charset="0"/>
      <p:regular r:id="rId12"/>
    </p:embeddedFont>
    <p:embeddedFont>
      <p:font typeface="Radley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81575" y="3352800"/>
            <a:ext cx="8324850" cy="6934200"/>
            <a:chOff x="0" y="0"/>
            <a:chExt cx="1289737" cy="10742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9737" cy="1074289"/>
            </a:xfrm>
            <a:custGeom>
              <a:avLst/>
              <a:gdLst/>
              <a:ahLst/>
              <a:cxnLst/>
              <a:rect l="l" t="t" r="r" b="b"/>
              <a:pathLst>
                <a:path w="1289737" h="1074289">
                  <a:moveTo>
                    <a:pt x="0" y="0"/>
                  </a:moveTo>
                  <a:lnTo>
                    <a:pt x="1289737" y="0"/>
                  </a:lnTo>
                  <a:lnTo>
                    <a:pt x="1289737" y="1074289"/>
                  </a:lnTo>
                  <a:lnTo>
                    <a:pt x="0" y="1074289"/>
                  </a:lnTo>
                  <a:close/>
                </a:path>
              </a:pathLst>
            </a:custGeom>
            <a:blipFill>
              <a:blip r:embed="rId2"/>
              <a:stretch>
                <a:fillRect l="-329" r="-32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16954500" cy="2172955"/>
            <a:chOff x="0" y="0"/>
            <a:chExt cx="22606000" cy="2897274"/>
          </a:xfrm>
        </p:grpSpPr>
        <p:sp>
          <p:nvSpPr>
            <p:cNvPr id="5" name="AutoShape 5"/>
            <p:cNvSpPr/>
            <p:nvPr/>
          </p:nvSpPr>
          <p:spPr>
            <a:xfrm>
              <a:off x="0" y="2884574"/>
              <a:ext cx="22606000" cy="0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266700"/>
              <a:ext cx="22606000" cy="2630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299"/>
                </a:lnSpc>
              </a:pPr>
              <a:r>
                <a:rPr lang="en-US" sz="14299" u="none" spc="-285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Mess Management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9196071"/>
            <a:ext cx="4010025" cy="424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i="1">
                <a:solidFill>
                  <a:srgbClr val="4A90E2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Code and Conquer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2944475" cy="1795780"/>
            <a:chOff x="0" y="0"/>
            <a:chExt cx="17259300" cy="2394374"/>
          </a:xfrm>
        </p:grpSpPr>
        <p:sp>
          <p:nvSpPr>
            <p:cNvPr id="3" name="TextBox 3"/>
            <p:cNvSpPr txBox="1"/>
            <p:nvPr/>
          </p:nvSpPr>
          <p:spPr>
            <a:xfrm>
              <a:off x="0" y="142875"/>
              <a:ext cx="17259300" cy="12752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999"/>
                </a:lnSpc>
              </a:pPr>
              <a:r>
                <a:rPr lang="en-US" sz="6999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Survey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71650"/>
              <a:ext cx="17259300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u="none" strike="noStrike">
                  <a:solidFill>
                    <a:srgbClr val="4A90E2"/>
                  </a:solidFill>
                  <a:latin typeface="Radley"/>
                  <a:ea typeface="Radley"/>
                  <a:cs typeface="Radley"/>
                  <a:sym typeface="Radley"/>
                </a:rPr>
                <a:t>Understanding Implications for Project Direction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02135" y="459202"/>
            <a:ext cx="2171730" cy="2205796"/>
            <a:chOff x="0" y="0"/>
            <a:chExt cx="812800" cy="825500"/>
          </a:xfrm>
        </p:grpSpPr>
        <p:sp>
          <p:nvSpPr>
            <p:cNvPr id="6" name="Freeform 6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3025101"/>
            <a:ext cx="17621250" cy="615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Objective: Evaluate student perceptions, usability, and motivation for a digital meal attendance tool.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endParaRPr lang="en-US" sz="4323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Respondents: 92 responses.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endParaRPr lang="en-US" sz="4323" dirty="0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Focus Areas: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• Willingness to mark attendance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• Preference for auto-attendance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• Incentive-driven motivation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4323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• Barriers and ease of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3300" y="1562127"/>
            <a:ext cx="11201400" cy="2066938"/>
            <a:chOff x="0" y="0"/>
            <a:chExt cx="14935200" cy="2755917"/>
          </a:xfrm>
        </p:grpSpPr>
        <p:sp>
          <p:nvSpPr>
            <p:cNvPr id="3" name="AutoShape 3"/>
            <p:cNvSpPr/>
            <p:nvPr/>
          </p:nvSpPr>
          <p:spPr>
            <a:xfrm flipH="1">
              <a:off x="4892198" y="1651034"/>
              <a:ext cx="5150805" cy="0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14935200" cy="1162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600"/>
                </a:lnSpc>
              </a:pPr>
              <a:r>
                <a:rPr lang="en-US" sz="6000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96% Acceptability Rate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35192"/>
              <a:ext cx="14935200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 strike="noStrike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Positive feedback from respondents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43300" y="4248238"/>
            <a:ext cx="11201400" cy="2066938"/>
            <a:chOff x="0" y="0"/>
            <a:chExt cx="14935200" cy="2755917"/>
          </a:xfrm>
        </p:grpSpPr>
        <p:sp>
          <p:nvSpPr>
            <p:cNvPr id="7" name="AutoShape 7"/>
            <p:cNvSpPr/>
            <p:nvPr/>
          </p:nvSpPr>
          <p:spPr>
            <a:xfrm flipH="1">
              <a:off x="4892198" y="1651034"/>
              <a:ext cx="5150805" cy="0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14935200" cy="1162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6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97</a:t>
              </a:r>
              <a:r>
                <a:rPr lang="en-US" sz="6000" u="none" strike="noStrike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% Interested Users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035192"/>
              <a:ext cx="14935200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 strike="noStrike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Willing to use the system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543300" y="6934288"/>
            <a:ext cx="11201400" cy="2066938"/>
            <a:chOff x="0" y="0"/>
            <a:chExt cx="14935200" cy="2755917"/>
          </a:xfrm>
        </p:grpSpPr>
        <p:sp>
          <p:nvSpPr>
            <p:cNvPr id="11" name="AutoShape 11"/>
            <p:cNvSpPr/>
            <p:nvPr/>
          </p:nvSpPr>
          <p:spPr>
            <a:xfrm flipH="1">
              <a:off x="4892198" y="1651034"/>
              <a:ext cx="5150805" cy="0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4935200" cy="1162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600"/>
                </a:lnSpc>
                <a:spcBef>
                  <a:spcPct val="0"/>
                </a:spcBef>
              </a:pPr>
              <a:r>
                <a:rPr lang="en-US" sz="6000" u="none" strike="noStrike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95.8% Perceived Benefits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035192"/>
              <a:ext cx="14935200" cy="72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500" u="none" strike="noStrike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Recognized advantages of implementation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24255" y="666750"/>
            <a:ext cx="0" cy="8953500"/>
          </a:xfrm>
          <a:prstGeom prst="line">
            <a:avLst/>
          </a:prstGeom>
          <a:ln w="19050" cap="flat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66750" y="3422465"/>
            <a:ext cx="11012019" cy="550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3"/>
              </a:lnSpc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Willingness to mark attendance: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“Yes, but only if it’s quick and easy” – 57%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“Yes, always” – 39%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“Maybe / No” – 4%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  💡 Insight: Most users are open if the process is easy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Preference for auto-attendance: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“Yes, that’s more convenient” – 75%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“Maybe” – 25%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“No” – 6%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  💡 Insight: Automation is highly preferred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1180064" y="805923"/>
            <a:ext cx="6079236" cy="5194983"/>
          </a:xfrm>
          <a:custGeom>
            <a:avLst/>
            <a:gdLst/>
            <a:ahLst/>
            <a:cxnLst/>
            <a:rect l="l" t="t" r="r" b="b"/>
            <a:pathLst>
              <a:path w="6079236" h="5194983">
                <a:moveTo>
                  <a:pt x="0" y="0"/>
                </a:moveTo>
                <a:lnTo>
                  <a:pt x="6079236" y="0"/>
                </a:lnTo>
                <a:lnTo>
                  <a:pt x="6079236" y="5194984"/>
                </a:lnTo>
                <a:lnTo>
                  <a:pt x="0" y="5194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580328" y="6637681"/>
            <a:ext cx="5278709" cy="2294280"/>
          </a:xfrm>
          <a:custGeom>
            <a:avLst/>
            <a:gdLst/>
            <a:ahLst/>
            <a:cxnLst/>
            <a:rect l="l" t="t" r="r" b="b"/>
            <a:pathLst>
              <a:path w="5278709" h="2294280">
                <a:moveTo>
                  <a:pt x="0" y="0"/>
                </a:moveTo>
                <a:lnTo>
                  <a:pt x="5278708" y="0"/>
                </a:lnTo>
                <a:lnTo>
                  <a:pt x="5278708" y="2294280"/>
                </a:lnTo>
                <a:lnTo>
                  <a:pt x="0" y="229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09625"/>
            <a:ext cx="9832990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Participation Willingness &amp; Preferences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24255" y="666750"/>
            <a:ext cx="0" cy="8953500"/>
          </a:xfrm>
          <a:prstGeom prst="line">
            <a:avLst/>
          </a:prstGeom>
          <a:ln w="19050" cap="flat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666750" y="3422465"/>
            <a:ext cx="11012019" cy="505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3"/>
              </a:lnSpc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Motivators: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“Yes, that would motivate me” – 58%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“Maybe, nice to have” – 39%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“No interest” – 8%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Barriers: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Forgetfulness (most common)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Internet unavailability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Process taking too long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1860538" y="1103507"/>
            <a:ext cx="5198241" cy="4835573"/>
          </a:xfrm>
          <a:custGeom>
            <a:avLst/>
            <a:gdLst/>
            <a:ahLst/>
            <a:cxnLst/>
            <a:rect l="l" t="t" r="r" b="b"/>
            <a:pathLst>
              <a:path w="5198241" h="4835573">
                <a:moveTo>
                  <a:pt x="0" y="0"/>
                </a:moveTo>
                <a:lnTo>
                  <a:pt x="5198240" y="0"/>
                </a:lnTo>
                <a:lnTo>
                  <a:pt x="5198240" y="4835573"/>
                </a:lnTo>
                <a:lnTo>
                  <a:pt x="0" y="4835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660016" y="7116095"/>
            <a:ext cx="5599284" cy="1797067"/>
          </a:xfrm>
          <a:custGeom>
            <a:avLst/>
            <a:gdLst/>
            <a:ahLst/>
            <a:cxnLst/>
            <a:rect l="l" t="t" r="r" b="b"/>
            <a:pathLst>
              <a:path w="5599284" h="1797067">
                <a:moveTo>
                  <a:pt x="0" y="0"/>
                </a:moveTo>
                <a:lnTo>
                  <a:pt x="5599284" y="0"/>
                </a:lnTo>
                <a:lnTo>
                  <a:pt x="5599284" y="1797067"/>
                </a:lnTo>
                <a:lnTo>
                  <a:pt x="0" y="1797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6750" y="809625"/>
            <a:ext cx="8824454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Motivation and Barriers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24255" y="666750"/>
            <a:ext cx="0" cy="8953500"/>
          </a:xfrm>
          <a:prstGeom prst="line">
            <a:avLst/>
          </a:prstGeom>
          <a:ln w="19050" cap="flat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760555" y="1181655"/>
            <a:ext cx="4918255" cy="4443520"/>
          </a:xfrm>
          <a:custGeom>
            <a:avLst/>
            <a:gdLst/>
            <a:ahLst/>
            <a:cxnLst/>
            <a:rect l="l" t="t" r="r" b="b"/>
            <a:pathLst>
              <a:path w="4918255" h="4443520">
                <a:moveTo>
                  <a:pt x="0" y="0"/>
                </a:moveTo>
                <a:lnTo>
                  <a:pt x="4918255" y="0"/>
                </a:lnTo>
                <a:lnTo>
                  <a:pt x="4918255" y="4443520"/>
                </a:lnTo>
                <a:lnTo>
                  <a:pt x="0" y="4443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13021" y="6650952"/>
            <a:ext cx="4213323" cy="2607348"/>
          </a:xfrm>
          <a:custGeom>
            <a:avLst/>
            <a:gdLst/>
            <a:ahLst/>
            <a:cxnLst/>
            <a:rect l="l" t="t" r="r" b="b"/>
            <a:pathLst>
              <a:path w="4213323" h="2607348">
                <a:moveTo>
                  <a:pt x="0" y="0"/>
                </a:moveTo>
                <a:lnTo>
                  <a:pt x="4213322" y="0"/>
                </a:lnTo>
                <a:lnTo>
                  <a:pt x="4213322" y="2607348"/>
                </a:lnTo>
                <a:lnTo>
                  <a:pt x="0" y="2607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750" y="3422465"/>
            <a:ext cx="11012019" cy="5052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3"/>
              </a:lnSpc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Ease of use ratings: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Somewhat easy – 50%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Neutral – 33%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Very easy – 17%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 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User Suggestions: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Add motivating factors or rewards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Ensure fast and reliable system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Use audio/visual cues for accessibility</a:t>
            </a:r>
          </a:p>
          <a:p>
            <a:pPr marL="713136" lvl="1" indent="-356568" algn="just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3303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Consider proxy or fairness issues</a:t>
            </a:r>
          </a:p>
          <a:p>
            <a:pPr algn="just">
              <a:lnSpc>
                <a:spcPts val="3633"/>
              </a:lnSpc>
              <a:spcBef>
                <a:spcPct val="0"/>
              </a:spcBef>
            </a:pPr>
            <a:endParaRPr lang="en-US" sz="3303">
              <a:solidFill>
                <a:srgbClr val="2A2A2A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6750" y="809625"/>
            <a:ext cx="9832990" cy="180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Ease of Use &amp; User Suggestions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750" y="714375"/>
            <a:ext cx="4743450" cy="3593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72"/>
              </a:lnSpc>
              <a:spcBef>
                <a:spcPct val="0"/>
              </a:spcBef>
            </a:pPr>
            <a:r>
              <a:rPr lang="en-US" sz="6225" dirty="0">
                <a:solidFill>
                  <a:srgbClr val="2A2A2A"/>
                </a:solidFill>
                <a:latin typeface="Radley"/>
                <a:ea typeface="Radley"/>
                <a:cs typeface="Radley"/>
                <a:sym typeface="Radley"/>
              </a:rPr>
              <a:t>Latest Development Milestones Achieved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4124" y="5618219"/>
            <a:ext cx="5767848" cy="1128017"/>
            <a:chOff x="0" y="108877"/>
            <a:chExt cx="7690464" cy="1504023"/>
          </a:xfrm>
        </p:grpSpPr>
        <p:sp>
          <p:nvSpPr>
            <p:cNvPr id="6" name="TextBox 6"/>
            <p:cNvSpPr txBox="1"/>
            <p:nvPr/>
          </p:nvSpPr>
          <p:spPr>
            <a:xfrm>
              <a:off x="19664" y="108877"/>
              <a:ext cx="7670800" cy="622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4A90E2"/>
                  </a:solidFill>
                  <a:latin typeface="Radley"/>
                  <a:ea typeface="Radley"/>
                  <a:cs typeface="Radley"/>
                  <a:sym typeface="Radley"/>
                </a:rPr>
                <a:t>Project Status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59460"/>
              <a:ext cx="7670800" cy="853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 dirty="0">
                  <a:solidFill>
                    <a:srgbClr val="2A2A2A"/>
                  </a:solidFill>
                  <a:latin typeface="Carlito"/>
                  <a:ea typeface="Carlito"/>
                  <a:cs typeface="Carlito"/>
                  <a:sym typeface="Carlito"/>
                </a:rPr>
                <a:t>The project is progressing well with essential features implemented.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9184102"/>
            <a:ext cx="2171730" cy="2205796"/>
            <a:chOff x="0" y="0"/>
            <a:chExt cx="812800" cy="825500"/>
          </a:xfrm>
        </p:grpSpPr>
        <p:sp>
          <p:nvSpPr>
            <p:cNvPr id="9" name="Freeform 9"/>
            <p:cNvSpPr/>
            <p:nvPr/>
          </p:nvSpPr>
          <p:spPr>
            <a:xfrm>
              <a:off x="1270" y="0"/>
              <a:ext cx="810260" cy="822960"/>
            </a:xfrm>
            <a:custGeom>
              <a:avLst/>
              <a:gdLst/>
              <a:ahLst/>
              <a:cxnLst/>
              <a:rect l="l" t="t" r="r" b="b"/>
              <a:pathLst>
                <a:path w="810260" h="822960">
                  <a:moveTo>
                    <a:pt x="405130" y="0"/>
                  </a:moveTo>
                  <a:lnTo>
                    <a:pt x="450850" y="151130"/>
                  </a:lnTo>
                  <a:lnTo>
                    <a:pt x="546100" y="25400"/>
                  </a:lnTo>
                  <a:lnTo>
                    <a:pt x="537210" y="181610"/>
                  </a:lnTo>
                  <a:lnTo>
                    <a:pt x="669290" y="96520"/>
                  </a:lnTo>
                  <a:lnTo>
                    <a:pt x="608330" y="241300"/>
                  </a:lnTo>
                  <a:lnTo>
                    <a:pt x="760730" y="205740"/>
                  </a:lnTo>
                  <a:lnTo>
                    <a:pt x="654050" y="321310"/>
                  </a:lnTo>
                  <a:lnTo>
                    <a:pt x="810260" y="340360"/>
                  </a:lnTo>
                  <a:lnTo>
                    <a:pt x="669290" y="411480"/>
                  </a:lnTo>
                  <a:lnTo>
                    <a:pt x="810260" y="482600"/>
                  </a:lnTo>
                  <a:lnTo>
                    <a:pt x="654050" y="501650"/>
                  </a:lnTo>
                  <a:lnTo>
                    <a:pt x="760730" y="617220"/>
                  </a:lnTo>
                  <a:lnTo>
                    <a:pt x="608330" y="581660"/>
                  </a:lnTo>
                  <a:lnTo>
                    <a:pt x="669290" y="726440"/>
                  </a:lnTo>
                  <a:lnTo>
                    <a:pt x="537210" y="640080"/>
                  </a:lnTo>
                  <a:lnTo>
                    <a:pt x="546100" y="797560"/>
                  </a:lnTo>
                  <a:lnTo>
                    <a:pt x="450850" y="671830"/>
                  </a:lnTo>
                  <a:lnTo>
                    <a:pt x="405130" y="822960"/>
                  </a:lnTo>
                  <a:lnTo>
                    <a:pt x="359410" y="671830"/>
                  </a:lnTo>
                  <a:lnTo>
                    <a:pt x="264160" y="797560"/>
                  </a:lnTo>
                  <a:lnTo>
                    <a:pt x="273050" y="640080"/>
                  </a:lnTo>
                  <a:lnTo>
                    <a:pt x="140970" y="726440"/>
                  </a:lnTo>
                  <a:lnTo>
                    <a:pt x="201930" y="581660"/>
                  </a:lnTo>
                  <a:lnTo>
                    <a:pt x="49530" y="617220"/>
                  </a:lnTo>
                  <a:lnTo>
                    <a:pt x="156210" y="501650"/>
                  </a:lnTo>
                  <a:lnTo>
                    <a:pt x="0" y="482600"/>
                  </a:lnTo>
                  <a:lnTo>
                    <a:pt x="140970" y="411480"/>
                  </a:lnTo>
                  <a:lnTo>
                    <a:pt x="0" y="340360"/>
                  </a:lnTo>
                  <a:lnTo>
                    <a:pt x="156210" y="321310"/>
                  </a:lnTo>
                  <a:lnTo>
                    <a:pt x="49530" y="205740"/>
                  </a:lnTo>
                  <a:lnTo>
                    <a:pt x="201930" y="241300"/>
                  </a:lnTo>
                  <a:lnTo>
                    <a:pt x="140970" y="96520"/>
                  </a:lnTo>
                  <a:lnTo>
                    <a:pt x="273050" y="181610"/>
                  </a:lnTo>
                  <a:lnTo>
                    <a:pt x="264160" y="25400"/>
                  </a:lnTo>
                  <a:lnTo>
                    <a:pt x="359410" y="151130"/>
                  </a:lnTo>
                  <a:close/>
                </a:path>
              </a:pathLst>
            </a:custGeom>
            <a:solidFill>
              <a:srgbClr val="2A2A2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41746" y="112576"/>
              <a:ext cx="529308" cy="559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4" name="Picture 13" descr="A screenshot of a menu&#10;&#10;AI-generated content may be incorrect.">
            <a:extLst>
              <a:ext uri="{FF2B5EF4-FFF2-40B4-BE49-F238E27FC236}">
                <a16:creationId xmlns:a16="http://schemas.microsoft.com/office/drawing/2014/main" id="{8420C8BD-4E13-9E15-8C40-39861D8F2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06"/>
          <a:stretch/>
        </p:blipFill>
        <p:spPr>
          <a:xfrm>
            <a:off x="6705600" y="1790700"/>
            <a:ext cx="10591800" cy="5743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3106400" y="1257300"/>
            <a:ext cx="4882404" cy="2337818"/>
            <a:chOff x="0" y="238317"/>
            <a:chExt cx="6509872" cy="3117090"/>
          </a:xfrm>
        </p:grpSpPr>
        <p:sp>
          <p:nvSpPr>
            <p:cNvPr id="5" name="TextBox 5"/>
            <p:cNvSpPr txBox="1"/>
            <p:nvPr/>
          </p:nvSpPr>
          <p:spPr>
            <a:xfrm>
              <a:off x="13109" y="1269924"/>
              <a:ext cx="4438540" cy="1217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3499" dirty="0">
                  <a:solidFill>
                    <a:srgbClr val="2A2A2A"/>
                  </a:solidFill>
                  <a:latin typeface="Radley"/>
                  <a:ea typeface="Radley"/>
                  <a:cs typeface="Radley"/>
                  <a:sym typeface="Radley"/>
                </a:rPr>
                <a:t>Staff-Side Food Analysis</a:t>
              </a:r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0" y="866761"/>
              <a:ext cx="5753052" cy="13901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109" y="238317"/>
              <a:ext cx="5753073" cy="478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 spc="266" dirty="0">
                  <a:solidFill>
                    <a:srgbClr val="4A90E2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OCTOBER 2025</a:t>
              </a:r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0" y="2781362"/>
              <a:ext cx="5753052" cy="13901"/>
            </a:xfrm>
            <a:prstGeom prst="line">
              <a:avLst/>
            </a:prstGeom>
            <a:ln w="25400" cap="flat">
              <a:solidFill>
                <a:srgbClr val="2A2A2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2877040"/>
              <a:ext cx="6509872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dirty="0">
                  <a:solidFill>
                    <a:srgbClr val="2A2A2A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Streamlined meal management</a:t>
              </a:r>
            </a:p>
          </p:txBody>
        </p:sp>
      </p:grpSp>
      <p:pic>
        <p:nvPicPr>
          <p:cNvPr id="11" name="Picture 10" descr="A screenshot of a data entry&#10;&#10;AI-generated content may be incorrect.">
            <a:extLst>
              <a:ext uri="{FF2B5EF4-FFF2-40B4-BE49-F238E27FC236}">
                <a16:creationId xmlns:a16="http://schemas.microsoft.com/office/drawing/2014/main" id="{ACB16715-8C05-E9F5-734D-3F0BB260E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15" y="647701"/>
            <a:ext cx="5287985" cy="5415678"/>
          </a:xfrm>
          <a:prstGeom prst="rect">
            <a:avLst/>
          </a:prstGeom>
        </p:spPr>
      </p:pic>
      <p:pic>
        <p:nvPicPr>
          <p:cNvPr id="13" name="Picture 12" descr="A screenshot of a food analysis&#10;&#10;AI-generated content may be incorrect.">
            <a:extLst>
              <a:ext uri="{FF2B5EF4-FFF2-40B4-BE49-F238E27FC236}">
                <a16:creationId xmlns:a16="http://schemas.microsoft.com/office/drawing/2014/main" id="{7FAA3F72-8A5D-4DE4-80E3-DD23B0589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569343"/>
            <a:ext cx="5876925" cy="5334000"/>
          </a:xfrm>
          <a:prstGeom prst="rect">
            <a:avLst/>
          </a:prstGeom>
        </p:spPr>
      </p:pic>
      <p:pic>
        <p:nvPicPr>
          <p:cNvPr id="15" name="Picture 14" descr="A graph with blue and pink bars&#10;&#10;AI-generated content may be incorrect.">
            <a:extLst>
              <a:ext uri="{FF2B5EF4-FFF2-40B4-BE49-F238E27FC236}">
                <a16:creationId xmlns:a16="http://schemas.microsoft.com/office/drawing/2014/main" id="{78129BC1-EE35-3929-9699-A7D7FE92C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990" y="6012427"/>
            <a:ext cx="8281219" cy="4053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287</Words>
  <Application>Microsoft Office PowerPoint</Application>
  <PresentationFormat>Custom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Radley</vt:lpstr>
      <vt:lpstr>Arial</vt:lpstr>
      <vt:lpstr>Calibri</vt:lpstr>
      <vt:lpstr>Radley Italics</vt:lpstr>
      <vt:lpstr>Carlito Bold</vt:lpstr>
      <vt:lpstr>Carlito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Mess Management</dc:title>
  <dc:creator>Nitya Gupta</dc:creator>
  <dc:description>Presentation - Mess Management</dc:description>
  <cp:lastModifiedBy>Nitya Gupta</cp:lastModifiedBy>
  <cp:revision>3</cp:revision>
  <dcterms:created xsi:type="dcterms:W3CDTF">2006-08-16T00:00:00Z</dcterms:created>
  <dcterms:modified xsi:type="dcterms:W3CDTF">2025-10-30T10:01:58Z</dcterms:modified>
  <dc:identifier>DAG3GUfWCWw</dc:identifier>
</cp:coreProperties>
</file>